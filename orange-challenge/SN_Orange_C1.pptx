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8"/>
  </p:notesMasterIdLst>
  <p:sldIdLst>
    <p:sldId id="256" r:id="rId5"/>
    <p:sldId id="279" r:id="rId6"/>
    <p:sldId id="280" r:id="rId7"/>
  </p:sldIdLst>
  <p:sldSz cx="18288000" cy="10287000"/>
  <p:notesSz cx="6858000" cy="9144000"/>
  <p:embeddedFontLst>
    <p:embeddedFont>
      <p:font typeface="Arial Bold" panose="020B0604020202020204" charset="0"/>
      <p:regular r:id="rId9"/>
      <p:bold r:id="rId10"/>
    </p:embeddedFont>
    <p:embeddedFont>
      <p:font typeface="Ubuntu" panose="020B0504030602030204" pitchFamily="34" charset="0"/>
      <p:regular r:id="rId11"/>
      <p:bold r:id="rId12"/>
      <p:italic r:id="rId13"/>
      <p:boldItalic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1867B7"/>
    <a:srgbClr val="22C3C8"/>
    <a:srgbClr val="D9D9D9"/>
    <a:srgbClr val="EBEBEB"/>
    <a:srgbClr val="141519"/>
    <a:srgbClr val="000066"/>
    <a:srgbClr val="000099"/>
    <a:srgbClr val="003CB4"/>
    <a:srgbClr val="1E94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580156-C6CD-4413-AFAA-66C6CD91FE37}" v="19" dt="2026-02-07T19:01:49.4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DBED569-4797-4DF1-A0F4-6AAB3CD982D8}" styleName="Estilo claro 3 - Acento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Estilo medio 4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Estilo medio 1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7843" autoAdjust="0"/>
  </p:normalViewPr>
  <p:slideViewPr>
    <p:cSldViewPr snapToGrid="0">
      <p:cViewPr varScale="1">
        <p:scale>
          <a:sx n="53" d="100"/>
          <a:sy n="53" d="100"/>
        </p:scale>
        <p:origin x="1794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3.fntdata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9F0DCD-3A5D-4E33-8D41-19BE56969BBF}" type="datetimeFigureOut">
              <a:rPr lang="es-ES" smtClean="0"/>
              <a:t>08/02/2026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264C6E-2157-475B-B3EE-FF11277639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42786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64C6E-2157-475B-B3EE-FF1127763998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256967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4DE84-FB84-5C0E-F8AD-5D8724D36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B5EA698-CF27-63B6-E0FB-B618E8262B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E161F1C-BF52-4F75-C9A7-9A0FBBCA81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="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0CE9E18-3F28-FE05-114E-B19B82787D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64C6E-2157-475B-B3EE-FF1127763998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902754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B6FFF-CBEC-12D7-1DEE-80125A29E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1037834-DD39-1C66-920D-FCA9ACAC0D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718A486-50A6-97EF-214F-2400CC4385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="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8A2E69E-88C4-27B6-FF1B-82F4A44A78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64C6E-2157-475B-B3EE-FF1127763998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203272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Pantalla de juego de computadora&#10;&#10;El contenido generado por IA puede ser incorrecto.">
            <a:extLst>
              <a:ext uri="{FF2B5EF4-FFF2-40B4-BE49-F238E27FC236}">
                <a16:creationId xmlns:a16="http://schemas.microsoft.com/office/drawing/2014/main" id="{C9C4863F-366A-CCAA-4FCD-20EF04CEE0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0909" y="1518816"/>
            <a:ext cx="14607091" cy="8156126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9F37AC3A-C08C-4B7E-00AA-2250ECD98AC9}"/>
              </a:ext>
            </a:extLst>
          </p:cNvPr>
          <p:cNvSpPr/>
          <p:nvPr/>
        </p:nvSpPr>
        <p:spPr>
          <a:xfrm>
            <a:off x="1447800" y="2314328"/>
            <a:ext cx="8382000" cy="5953372"/>
          </a:xfrm>
          <a:prstGeom prst="rect">
            <a:avLst/>
          </a:prstGeom>
          <a:solidFill>
            <a:srgbClr val="1867B7">
              <a:alpha val="74000"/>
            </a:srgbClr>
          </a:solidFill>
          <a:ln>
            <a:noFill/>
          </a:ln>
        </p:spPr>
        <p:txBody>
          <a:bodyPr spcFirstLastPara="1" wrap="square" lIns="72000" tIns="36000" rIns="36000" bIns="36000" rtlCol="0" anchor="ctr" anchorCtr="0">
            <a:noAutofit/>
          </a:bodyPr>
          <a:lstStyle/>
          <a:p>
            <a:pPr algn="l"/>
            <a:endParaRPr lang="en-US" sz="1200" b="1" dirty="0">
              <a:solidFill>
                <a:schemeClr val="bg1"/>
              </a:solidFill>
              <a:latin typeface="Ubuntu" panose="020B0504030602030204" pitchFamily="34" charset="0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937413" y="2580528"/>
            <a:ext cx="7402773" cy="28634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4800" b="1" spc="-194" dirty="0">
                <a:solidFill>
                  <a:schemeClr val="bg1"/>
                </a:solidFill>
                <a:latin typeface="Arial Bold"/>
                <a:ea typeface="Arial Bold"/>
                <a:cs typeface="Arial Bold"/>
                <a:sym typeface="Arial Bold"/>
              </a:rPr>
              <a:t>UV Wireless Communication</a:t>
            </a:r>
            <a:endParaRPr lang="en-US" sz="5400" b="1" spc="-194" dirty="0">
              <a:solidFill>
                <a:schemeClr val="bg1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algn="l">
              <a:lnSpc>
                <a:spcPct val="150000"/>
              </a:lnSpc>
            </a:pPr>
            <a:r>
              <a:rPr lang="en-US" sz="3200" b="1" spc="-194" dirty="0">
                <a:solidFill>
                  <a:schemeClr val="bg1"/>
                </a:solidFill>
                <a:latin typeface="Arial Bold"/>
                <a:ea typeface="Arial Bold"/>
                <a:cs typeface="Arial Bold"/>
                <a:sym typeface="Arial Bold"/>
              </a:rPr>
              <a:t>Sensor Networks - Challenge 1</a:t>
            </a:r>
          </a:p>
        </p:txBody>
      </p:sp>
      <p:graphicFrame>
        <p:nvGraphicFramePr>
          <p:cNvPr id="10" name="Tabla 9">
            <a:extLst>
              <a:ext uri="{FF2B5EF4-FFF2-40B4-BE49-F238E27FC236}">
                <a16:creationId xmlns:a16="http://schemas.microsoft.com/office/drawing/2014/main" id="{C7FC323A-E9C5-DC4F-6BC5-5C9CF36B68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7938047"/>
              </p:ext>
            </p:extLst>
          </p:nvPr>
        </p:nvGraphicFramePr>
        <p:xfrm>
          <a:off x="1937413" y="5620632"/>
          <a:ext cx="6031173" cy="235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2989">
                  <a:extLst>
                    <a:ext uri="{9D8B030D-6E8A-4147-A177-3AD203B41FA5}">
                      <a16:colId xmlns:a16="http://schemas.microsoft.com/office/drawing/2014/main" val="2196420250"/>
                    </a:ext>
                  </a:extLst>
                </a:gridCol>
                <a:gridCol w="3738184">
                  <a:extLst>
                    <a:ext uri="{9D8B030D-6E8A-4147-A177-3AD203B41FA5}">
                      <a16:colId xmlns:a16="http://schemas.microsoft.com/office/drawing/2014/main" val="38554814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b="1" noProof="0" dirty="0">
                          <a:solidFill>
                            <a:schemeClr val="bg1"/>
                          </a:solidFill>
                        </a:rPr>
                        <a:t>Group Orange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noProof="0" dirty="0">
                          <a:solidFill>
                            <a:schemeClr val="bg1"/>
                          </a:solidFill>
                        </a:rPr>
                        <a:t>Alejandro Botas Bárcena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3232192"/>
                  </a:ext>
                </a:extLst>
              </a:tr>
              <a:tr h="523240">
                <a:tc>
                  <a:txBody>
                    <a:bodyPr/>
                    <a:lstStyle/>
                    <a:p>
                      <a:endParaRPr lang="en-US" sz="2400" b="1" noProof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noProof="0" dirty="0">
                          <a:solidFill>
                            <a:schemeClr val="bg1"/>
                          </a:solidFill>
                        </a:rPr>
                        <a:t>Javier </a:t>
                      </a:r>
                      <a:r>
                        <a:rPr lang="en-US" sz="2400" b="1" noProof="0" dirty="0" err="1">
                          <a:solidFill>
                            <a:schemeClr val="bg1"/>
                          </a:solidFill>
                        </a:rPr>
                        <a:t>Grimaldos</a:t>
                      </a:r>
                      <a:r>
                        <a:rPr lang="en-US" sz="2400" b="1" noProof="0" dirty="0">
                          <a:solidFill>
                            <a:schemeClr val="bg1"/>
                          </a:solidFill>
                        </a:rPr>
                        <a:t> Chavarría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60441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 b="1" noProof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noProof="0" dirty="0">
                          <a:solidFill>
                            <a:schemeClr val="bg1"/>
                          </a:solidFill>
                        </a:rPr>
                        <a:t>Estela Mora Barba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0508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 b="1" noProof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1" noProof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7515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noProof="0" dirty="0">
                          <a:solidFill>
                            <a:schemeClr val="bg1"/>
                          </a:solidFill>
                        </a:rPr>
                        <a:t>Date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noProof="0" dirty="0">
                          <a:solidFill>
                            <a:schemeClr val="bg1"/>
                          </a:solidFill>
                        </a:rPr>
                        <a:t>09 February 2026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0559938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AC84D7EE-4D23-745E-3FE0-8E6BC6422D8B}"/>
              </a:ext>
            </a:extLst>
          </p:cNvPr>
          <p:cNvSpPr txBox="1"/>
          <p:nvPr/>
        </p:nvSpPr>
        <p:spPr>
          <a:xfrm>
            <a:off x="2362200" y="726715"/>
            <a:ext cx="5291568" cy="2964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267"/>
              </a:lnSpc>
            </a:pPr>
            <a:r>
              <a:rPr lang="en-US" sz="2576" b="1" spc="-41" dirty="0">
                <a:solidFill>
                  <a:schemeClr val="bg1">
                    <a:lumMod val="65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Sensor Networks</a:t>
            </a: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8BA9BBBE-42DD-78B6-65E2-8B8928FA76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427" y="246367"/>
            <a:ext cx="1830236" cy="1272449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9FA1E2EE-1292-E7EC-9739-B9A4EDF40A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48306" y="246367"/>
            <a:ext cx="2846267" cy="1272449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0F568846-174F-C153-9A31-509D876FDD52}"/>
              </a:ext>
            </a:extLst>
          </p:cNvPr>
          <p:cNvSpPr txBox="1"/>
          <p:nvPr/>
        </p:nvSpPr>
        <p:spPr>
          <a:xfrm>
            <a:off x="529013" y="9422977"/>
            <a:ext cx="952224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800" noProof="0">
                <a:highlight>
                  <a:srgbClr val="FFFFFF"/>
                </a:highlight>
                <a:ea typeface="+mn-lt"/>
                <a:cs typeface="+mn-lt"/>
              </a:rPr>
              <a:t>https://ieeexplore.ieee.org/document/10843247</a:t>
            </a:r>
            <a:endParaRPr lang="en-US" sz="2800" noProof="0" dirty="0">
              <a:highlight>
                <a:srgbClr val="FFFFFF"/>
              </a:highligh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CD480-5EC2-D69B-AFE3-32C33702B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1">
            <a:extLst>
              <a:ext uri="{FF2B5EF4-FFF2-40B4-BE49-F238E27FC236}">
                <a16:creationId xmlns:a16="http://schemas.microsoft.com/office/drawing/2014/main" id="{7ECC22B1-D3FD-F5AD-B6CB-F90785729048}"/>
              </a:ext>
            </a:extLst>
          </p:cNvPr>
          <p:cNvSpPr txBox="1"/>
          <p:nvPr/>
        </p:nvSpPr>
        <p:spPr>
          <a:xfrm>
            <a:off x="2380752" y="778187"/>
            <a:ext cx="7763539" cy="8263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406"/>
              </a:lnSpc>
            </a:pPr>
            <a:r>
              <a:rPr lang="en-US" sz="5400" b="1" spc="-116" noProof="0" dirty="0">
                <a:latin typeface="Arial Bold"/>
                <a:ea typeface="Arial Bold"/>
                <a:cs typeface="Arial Bold"/>
                <a:sym typeface="Arial Bold"/>
              </a:rPr>
              <a:t>About the technology</a:t>
            </a:r>
            <a:endParaRPr lang="en-US" sz="5400" b="1" spc="-116" dirty="0"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2" name="TextBox 17">
            <a:extLst>
              <a:ext uri="{FF2B5EF4-FFF2-40B4-BE49-F238E27FC236}">
                <a16:creationId xmlns:a16="http://schemas.microsoft.com/office/drawing/2014/main" id="{6781D8EF-2A59-38C2-56C1-680B460667C3}"/>
              </a:ext>
            </a:extLst>
          </p:cNvPr>
          <p:cNvSpPr txBox="1"/>
          <p:nvPr/>
        </p:nvSpPr>
        <p:spPr>
          <a:xfrm>
            <a:off x="2385004" y="442702"/>
            <a:ext cx="5291568" cy="2964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67"/>
              </a:lnSpc>
            </a:pPr>
            <a:r>
              <a:rPr lang="en-US" sz="2400" b="1" spc="-41" noProof="0" dirty="0">
                <a:solidFill>
                  <a:schemeClr val="bg1">
                    <a:lumMod val="65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Sensor Networks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C1F34D4D-B891-C513-4F35-3A5D0A115A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427" y="246367"/>
            <a:ext cx="1830236" cy="1272449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23157993-A3EC-CE20-C3AB-417ED75447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48306" y="246367"/>
            <a:ext cx="2846267" cy="1272449"/>
          </a:xfrm>
          <a:prstGeom prst="rect">
            <a:avLst/>
          </a:prstGeom>
        </p:spPr>
      </p:pic>
      <p:sp>
        <p:nvSpPr>
          <p:cNvPr id="5" name="Google Shape;142;p26">
            <a:extLst>
              <a:ext uri="{FF2B5EF4-FFF2-40B4-BE49-F238E27FC236}">
                <a16:creationId xmlns:a16="http://schemas.microsoft.com/office/drawing/2014/main" id="{20E2A661-1EFE-79BE-DA48-D9442A1F6664}"/>
              </a:ext>
            </a:extLst>
          </p:cNvPr>
          <p:cNvSpPr/>
          <p:nvPr/>
        </p:nvSpPr>
        <p:spPr>
          <a:xfrm flipH="1">
            <a:off x="17626452" y="9676928"/>
            <a:ext cx="456121" cy="466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dirty="0">
                <a:latin typeface="Ubuntu" panose="020B0504030602030204" pitchFamily="34" charset="0"/>
              </a:rPr>
              <a:t>2</a:t>
            </a:r>
          </a:p>
        </p:txBody>
      </p:sp>
      <p:pic>
        <p:nvPicPr>
          <p:cNvPr id="9" name="Imagen 8" descr="Gráfico&#10;&#10;El contenido generado por IA puede ser incorrecto.">
            <a:extLst>
              <a:ext uri="{FF2B5EF4-FFF2-40B4-BE49-F238E27FC236}">
                <a16:creationId xmlns:a16="http://schemas.microsoft.com/office/drawing/2014/main" id="{67073032-5B72-5938-0C28-4E00A8B2A90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055" t="5180" r="6067" b="2387"/>
          <a:stretch>
            <a:fillRect/>
          </a:stretch>
        </p:blipFill>
        <p:spPr>
          <a:xfrm>
            <a:off x="1837661" y="2626046"/>
            <a:ext cx="7171319" cy="5784720"/>
          </a:xfrm>
          <a:prstGeom prst="rect">
            <a:avLst/>
          </a:prstGeom>
        </p:spPr>
      </p:pic>
      <p:pic>
        <p:nvPicPr>
          <p:cNvPr id="12" name="Imagen 11" descr="Texto&#10;&#10;El contenido generado por IA puede ser incorrecto.">
            <a:extLst>
              <a:ext uri="{FF2B5EF4-FFF2-40B4-BE49-F238E27FC236}">
                <a16:creationId xmlns:a16="http://schemas.microsoft.com/office/drawing/2014/main" id="{C9619B0A-8898-5B21-200E-4BC08B25D891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75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r="74820"/>
          <a:stretch>
            <a:fillRect/>
          </a:stretch>
        </p:blipFill>
        <p:spPr>
          <a:xfrm>
            <a:off x="9665877" y="2867768"/>
            <a:ext cx="1215483" cy="592425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C8DA6481-470A-EA4C-BE35-68FEC955C337}"/>
              </a:ext>
            </a:extLst>
          </p:cNvPr>
          <p:cNvSpPr/>
          <p:nvPr/>
        </p:nvSpPr>
        <p:spPr>
          <a:xfrm>
            <a:off x="10936224" y="2626046"/>
            <a:ext cx="6266477" cy="6189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00" tIns="36000" rIns="36000" bIns="36000" rtlCol="0" anchor="t" anchorCtr="0">
            <a:noAutofit/>
          </a:bodyPr>
          <a:lstStyle/>
          <a:p>
            <a:pPr algn="l"/>
            <a:r>
              <a:rPr lang="en-US" sz="2800" b="1" dirty="0">
                <a:solidFill>
                  <a:sysClr val="windowText" lastClr="000000"/>
                </a:solidFill>
                <a:latin typeface="Ubuntu" panose="020B0504030602030204" pitchFamily="34" charset="0"/>
              </a:rPr>
              <a:t>Large Field of View (</a:t>
            </a:r>
            <a:r>
              <a:rPr lang="en-US" sz="2800" b="1" dirty="0" err="1">
                <a:solidFill>
                  <a:sysClr val="windowText" lastClr="000000"/>
                </a:solidFill>
                <a:latin typeface="Ubuntu" panose="020B0504030602030204" pitchFamily="34" charset="0"/>
              </a:rPr>
              <a:t>FoV</a:t>
            </a:r>
            <a:r>
              <a:rPr lang="en-US" sz="2800" b="1" dirty="0">
                <a:solidFill>
                  <a:sysClr val="windowText" lastClr="000000"/>
                </a:solidFill>
                <a:latin typeface="Ubuntu" panose="020B0504030602030204" pitchFamily="34" charset="0"/>
              </a:rPr>
              <a:t>)</a:t>
            </a:r>
          </a:p>
          <a:p>
            <a:r>
              <a:rPr lang="en-US" sz="2000" noProof="0" dirty="0">
                <a:solidFill>
                  <a:sysClr val="windowText" lastClr="000000"/>
                </a:solidFill>
                <a:latin typeface="Ubuntu" panose="020B0504030602030204" pitchFamily="34" charset="0"/>
              </a:rPr>
              <a:t>- Transmitter covers 120⁰ (-60</a:t>
            </a:r>
            <a:r>
              <a:rPr lang="en-US" sz="2000" dirty="0">
                <a:solidFill>
                  <a:sysClr val="windowText" lastClr="000000"/>
                </a:solidFill>
                <a:latin typeface="Ubuntu" panose="020B0504030602030204" pitchFamily="34" charset="0"/>
              </a:rPr>
              <a:t>⁰</a:t>
            </a:r>
            <a:r>
              <a:rPr lang="en-US" sz="2000" noProof="0" dirty="0">
                <a:solidFill>
                  <a:sysClr val="windowText" lastClr="000000"/>
                </a:solidFill>
                <a:latin typeface="Ubuntu" panose="020B0504030602030204" pitchFamily="34" charset="0"/>
              </a:rPr>
              <a:t> to +60</a:t>
            </a:r>
            <a:r>
              <a:rPr lang="en-US" sz="2000" dirty="0">
                <a:solidFill>
                  <a:sysClr val="windowText" lastClr="000000"/>
                </a:solidFill>
                <a:latin typeface="Ubuntu" panose="020B0504030602030204" pitchFamily="34" charset="0"/>
              </a:rPr>
              <a:t>⁰</a:t>
            </a:r>
            <a:r>
              <a:rPr lang="en-US" sz="2000" noProof="0" dirty="0">
                <a:solidFill>
                  <a:sysClr val="windowText" lastClr="000000"/>
                </a:solidFill>
                <a:latin typeface="Ubuntu" panose="020B0504030602030204" pitchFamily="34" charset="0"/>
              </a:rPr>
              <a:t>)</a:t>
            </a:r>
          </a:p>
          <a:p>
            <a:r>
              <a:rPr lang="en-US" sz="2000" noProof="0" dirty="0">
                <a:solidFill>
                  <a:sysClr val="windowText" lastClr="000000"/>
                </a:solidFill>
                <a:latin typeface="Ubuntu" panose="020B0504030602030204" pitchFamily="34" charset="0"/>
              </a:rPr>
              <a:t>- Receiver captures 100</a:t>
            </a:r>
            <a:r>
              <a:rPr lang="en-US" sz="2000" dirty="0">
                <a:solidFill>
                  <a:sysClr val="windowText" lastClr="000000"/>
                </a:solidFill>
                <a:latin typeface="Ubuntu" panose="020B0504030602030204" pitchFamily="34" charset="0"/>
              </a:rPr>
              <a:t>⁰</a:t>
            </a:r>
            <a:endParaRPr lang="en-US" sz="2000" noProof="0" dirty="0">
              <a:solidFill>
                <a:sysClr val="windowText" lastClr="000000"/>
              </a:solidFill>
              <a:latin typeface="Ubuntu" panose="020B0504030602030204" pitchFamily="34" charset="0"/>
            </a:endParaRPr>
          </a:p>
          <a:p>
            <a:pPr algn="l"/>
            <a:r>
              <a:rPr lang="en-US" sz="2000" noProof="0" dirty="0">
                <a:solidFill>
                  <a:sysClr val="windowText" lastClr="000000"/>
                </a:solidFill>
                <a:latin typeface="Ubuntu" panose="020B0504030602030204" pitchFamily="34" charset="0"/>
              </a:rPr>
              <a:t>- No complex alignment required</a:t>
            </a:r>
          </a:p>
          <a:p>
            <a:pPr algn="l"/>
            <a:endParaRPr lang="en-US" sz="2800" b="1" dirty="0">
              <a:solidFill>
                <a:sysClr val="windowText" lastClr="000000"/>
              </a:solidFill>
              <a:latin typeface="Ubuntu" panose="020B0504030602030204" pitchFamily="34" charset="0"/>
            </a:endParaRPr>
          </a:p>
          <a:p>
            <a:pPr algn="l"/>
            <a:r>
              <a:rPr lang="en-US" sz="2800" b="1" noProof="0" dirty="0">
                <a:solidFill>
                  <a:sysClr val="windowText" lastClr="000000"/>
                </a:solidFill>
                <a:latin typeface="Ubuntu" panose="020B0504030602030204" pitchFamily="34" charset="0"/>
              </a:rPr>
              <a:t>Interference Immunity</a:t>
            </a:r>
          </a:p>
          <a:p>
            <a:pPr algn="l"/>
            <a:r>
              <a:rPr lang="en-US" sz="2000" dirty="0">
                <a:solidFill>
                  <a:sysClr val="windowText" lastClr="000000"/>
                </a:solidFill>
                <a:latin typeface="Ubuntu" panose="020B0504030602030204" pitchFamily="34" charset="0"/>
              </a:rPr>
              <a:t>- Immune to EMI and RF jamming</a:t>
            </a:r>
          </a:p>
          <a:p>
            <a:pPr algn="l"/>
            <a:r>
              <a:rPr lang="en-US" sz="2000" dirty="0">
                <a:solidFill>
                  <a:sysClr val="windowText" lastClr="000000"/>
                </a:solidFill>
                <a:latin typeface="Ubuntu" panose="020B0504030602030204" pitchFamily="34" charset="0"/>
              </a:rPr>
              <a:t>- Ideal for electromagnetically noisy environments</a:t>
            </a:r>
          </a:p>
          <a:p>
            <a:pPr algn="l"/>
            <a:endParaRPr lang="en-US" sz="2800" b="1" noProof="0" dirty="0">
              <a:solidFill>
                <a:sysClr val="windowText" lastClr="000000"/>
              </a:solidFill>
              <a:latin typeface="Ubuntu" panose="020B0504030602030204" pitchFamily="34" charset="0"/>
            </a:endParaRPr>
          </a:p>
          <a:p>
            <a:pPr algn="l"/>
            <a:r>
              <a:rPr lang="en-US" sz="2800" b="1" dirty="0">
                <a:solidFill>
                  <a:sysClr val="windowText" lastClr="000000"/>
                </a:solidFill>
                <a:latin typeface="Ubuntu" panose="020B0504030602030204" pitchFamily="34" charset="0"/>
              </a:rPr>
              <a:t>S</a:t>
            </a:r>
            <a:r>
              <a:rPr lang="en-US" sz="2800" b="1" noProof="0" dirty="0" err="1">
                <a:solidFill>
                  <a:sysClr val="windowText" lastClr="000000"/>
                </a:solidFill>
                <a:latin typeface="Ubuntu" panose="020B0504030602030204" pitchFamily="34" charset="0"/>
              </a:rPr>
              <a:t>ecurity</a:t>
            </a:r>
            <a:endParaRPr lang="en-US" sz="2800" b="1" noProof="0" dirty="0">
              <a:solidFill>
                <a:sysClr val="windowText" lastClr="000000"/>
              </a:solidFill>
              <a:latin typeface="Ubuntu" panose="020B0504030602030204" pitchFamily="34" charset="0"/>
            </a:endParaRPr>
          </a:p>
          <a:p>
            <a:pPr algn="l"/>
            <a:r>
              <a:rPr lang="en-US" sz="2000" noProof="0" dirty="0">
                <a:solidFill>
                  <a:sysClr val="windowText" lastClr="000000"/>
                </a:solidFill>
                <a:latin typeface="Ubuntu" panose="020B0504030602030204" pitchFamily="34" charset="0"/>
              </a:rPr>
              <a:t>- High atmospheric absorption prevents long-range interception or wall penetration</a:t>
            </a:r>
          </a:p>
          <a:p>
            <a:pPr algn="l"/>
            <a:endParaRPr lang="en-US" sz="2800" b="1" dirty="0">
              <a:solidFill>
                <a:sysClr val="windowText" lastClr="000000"/>
              </a:solidFill>
              <a:latin typeface="Ubuntu" panose="020B0504030602030204" pitchFamily="34" charset="0"/>
            </a:endParaRPr>
          </a:p>
          <a:p>
            <a:pPr algn="l"/>
            <a:r>
              <a:rPr lang="en-US" sz="2800" b="1" noProof="0" dirty="0">
                <a:solidFill>
                  <a:sysClr val="windowText" lastClr="000000"/>
                </a:solidFill>
                <a:latin typeface="Ubuntu" panose="020B0504030602030204" pitchFamily="34" charset="0"/>
              </a:rPr>
              <a:t>Resilience</a:t>
            </a:r>
          </a:p>
          <a:p>
            <a:pPr algn="l"/>
            <a:r>
              <a:rPr lang="en-US" sz="2000" dirty="0">
                <a:solidFill>
                  <a:sysClr val="windowText" lastClr="000000"/>
                </a:solidFill>
                <a:latin typeface="Ubuntu" panose="020B0504030602030204" pitchFamily="34" charset="0"/>
              </a:rPr>
              <a:t>- Atmospheric scattering enables connectivity in obstacle-rich env</a:t>
            </a:r>
            <a:r>
              <a:rPr lang="en-US" sz="2000" noProof="0" dirty="0" err="1">
                <a:solidFill>
                  <a:sysClr val="windowText" lastClr="000000"/>
                </a:solidFill>
                <a:latin typeface="Ubuntu" panose="020B0504030602030204" pitchFamily="34" charset="0"/>
              </a:rPr>
              <a:t>ironments</a:t>
            </a:r>
            <a:endParaRPr lang="en-US" sz="2000" dirty="0">
              <a:solidFill>
                <a:sysClr val="windowText" lastClr="000000"/>
              </a:solidFill>
              <a:latin typeface="Ubuntu" panose="020B05040306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25633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CAD18-035F-0DB8-2530-EA1D271B9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1">
            <a:extLst>
              <a:ext uri="{FF2B5EF4-FFF2-40B4-BE49-F238E27FC236}">
                <a16:creationId xmlns:a16="http://schemas.microsoft.com/office/drawing/2014/main" id="{629D2C1A-0BA0-C622-D8DE-D919A90C9A9D}"/>
              </a:ext>
            </a:extLst>
          </p:cNvPr>
          <p:cNvSpPr txBox="1"/>
          <p:nvPr/>
        </p:nvSpPr>
        <p:spPr>
          <a:xfrm>
            <a:off x="2380752" y="778187"/>
            <a:ext cx="7763539" cy="8263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406"/>
              </a:lnSpc>
            </a:pPr>
            <a:r>
              <a:rPr lang="en-US" sz="5400" b="1" spc="-116" noProof="0" dirty="0">
                <a:latin typeface="Arial Bold"/>
                <a:ea typeface="Arial Bold"/>
                <a:cs typeface="Arial Bold"/>
                <a:sym typeface="Arial Bold"/>
              </a:rPr>
              <a:t>Comparison</a:t>
            </a:r>
            <a:endParaRPr lang="en-US" sz="5400" b="1" spc="-116" dirty="0"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2" name="TextBox 17">
            <a:extLst>
              <a:ext uri="{FF2B5EF4-FFF2-40B4-BE49-F238E27FC236}">
                <a16:creationId xmlns:a16="http://schemas.microsoft.com/office/drawing/2014/main" id="{D274F851-C8CB-9FF5-D0AB-784210EC6FE3}"/>
              </a:ext>
            </a:extLst>
          </p:cNvPr>
          <p:cNvSpPr txBox="1"/>
          <p:nvPr/>
        </p:nvSpPr>
        <p:spPr>
          <a:xfrm>
            <a:off x="2385004" y="442702"/>
            <a:ext cx="5291568" cy="2964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67"/>
              </a:lnSpc>
            </a:pPr>
            <a:r>
              <a:rPr lang="en-US" sz="2400" b="1" spc="-41" noProof="0" dirty="0">
                <a:solidFill>
                  <a:schemeClr val="bg1">
                    <a:lumMod val="65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Sensor Networks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45B1695-141E-1EB9-399C-42131496BE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427" y="246367"/>
            <a:ext cx="1830236" cy="1272449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756A5027-CB19-B0E7-C789-27C852C7F3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48306" y="246367"/>
            <a:ext cx="2846267" cy="1272449"/>
          </a:xfrm>
          <a:prstGeom prst="rect">
            <a:avLst/>
          </a:prstGeom>
        </p:spPr>
      </p:pic>
      <p:sp>
        <p:nvSpPr>
          <p:cNvPr id="5" name="Google Shape;142;p26">
            <a:extLst>
              <a:ext uri="{FF2B5EF4-FFF2-40B4-BE49-F238E27FC236}">
                <a16:creationId xmlns:a16="http://schemas.microsoft.com/office/drawing/2014/main" id="{B478FDEE-FE8B-0DDC-AF6A-C37E341934BE}"/>
              </a:ext>
            </a:extLst>
          </p:cNvPr>
          <p:cNvSpPr/>
          <p:nvPr/>
        </p:nvSpPr>
        <p:spPr>
          <a:xfrm flipH="1">
            <a:off x="17626452" y="9676928"/>
            <a:ext cx="456121" cy="466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68569" rIns="36000" bIns="68569" anchor="ctr" anchorCtr="0">
            <a:noAutofit/>
          </a:bodyPr>
          <a:lstStyle/>
          <a:p>
            <a:pPr algn="ctr"/>
            <a:r>
              <a:rPr lang="en-US" sz="2000" b="1" dirty="0">
                <a:latin typeface="Ubuntu" panose="020B0504030602030204" pitchFamily="34" charset="0"/>
              </a:rPr>
              <a:t>3</a:t>
            </a:r>
          </a:p>
        </p:txBody>
      </p:sp>
      <p:pic>
        <p:nvPicPr>
          <p:cNvPr id="9" name="Imagen 8" descr="Imagen de la pantalla de un celular con letras&#10;&#10;El contenido generado por IA puede ser incorrecto.">
            <a:extLst>
              <a:ext uri="{FF2B5EF4-FFF2-40B4-BE49-F238E27FC236}">
                <a16:creationId xmlns:a16="http://schemas.microsoft.com/office/drawing/2014/main" id="{25A0B4D8-1161-9E02-34DE-1A8BD6AB87F4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</a:blip>
          <a:stretch>
            <a:fillRect/>
          </a:stretch>
        </p:blipFill>
        <p:spPr>
          <a:xfrm>
            <a:off x="949098" y="2527035"/>
            <a:ext cx="16389803" cy="614167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347930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1867B7"/>
        </a:solidFill>
        <a:ln>
          <a:noFill/>
        </a:ln>
      </a:spPr>
      <a:bodyPr spcFirstLastPara="1" wrap="square" lIns="72000" tIns="36000" rIns="36000" bIns="36000" anchor="ctr" anchorCtr="0">
        <a:noAutofit/>
      </a:bodyPr>
      <a:lstStyle>
        <a:defPPr algn="l">
          <a:defRPr sz="1200" b="1" noProof="0" dirty="0">
            <a:solidFill>
              <a:schemeClr val="bg1"/>
            </a:solidFill>
            <a:latin typeface="Ubuntu" panose="020B0504030602030204" pitchFamily="34" charset="0"/>
          </a:defRPr>
        </a:defPPr>
      </a:lstStyle>
    </a:sp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E6D297D7D72CF48BC00C85FA7DA7FAD" ma:contentTypeVersion="15" ma:contentTypeDescription="Crear nuevo documento." ma:contentTypeScope="" ma:versionID="bff06d55417470980e87afe6d4cf8d71">
  <xsd:schema xmlns:xsd="http://www.w3.org/2001/XMLSchema" xmlns:xs="http://www.w3.org/2001/XMLSchema" xmlns:p="http://schemas.microsoft.com/office/2006/metadata/properties" xmlns:ns3="6f979a40-6145-4262-ac9c-6c5da0bb6d58" xmlns:ns4="1b867f6b-d099-456f-897d-750bac300416" targetNamespace="http://schemas.microsoft.com/office/2006/metadata/properties" ma:root="true" ma:fieldsID="397249c406ff59e2b6cb07f3a779a953" ns3:_="" ns4:_="">
    <xsd:import namespace="6f979a40-6145-4262-ac9c-6c5da0bb6d58"/>
    <xsd:import namespace="1b867f6b-d099-456f-897d-750bac30041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979a40-6145-4262-ac9c-6c5da0bb6d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867f6b-d099-456f-897d-750bac300416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f979a40-6145-4262-ac9c-6c5da0bb6d58" xsi:nil="true"/>
  </documentManagement>
</p:properties>
</file>

<file path=customXml/itemProps1.xml><?xml version="1.0" encoding="utf-8"?>
<ds:datastoreItem xmlns:ds="http://schemas.openxmlformats.org/officeDocument/2006/customXml" ds:itemID="{4799F01C-FABB-4080-9952-15D8573AB5A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A83712F-F844-4CC0-B5BA-BC57B0539F37}">
  <ds:schemaRefs>
    <ds:schemaRef ds:uri="1b867f6b-d099-456f-897d-750bac300416"/>
    <ds:schemaRef ds:uri="6f979a40-6145-4262-ac9c-6c5da0bb6d5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B4EAF6AC-A10F-4E0D-BB8D-50ECD6BB2F85}">
  <ds:schemaRefs>
    <ds:schemaRef ds:uri="1b867f6b-d099-456f-897d-750bac300416"/>
    <ds:schemaRef ds:uri="http://purl.org/dc/elements/1.1/"/>
    <ds:schemaRef ds:uri="http://purl.org/dc/terms/"/>
    <ds:schemaRef ds:uri="http://purl.org/dc/dcmitype/"/>
    <ds:schemaRef ds:uri="6f979a40-6145-4262-ac9c-6c5da0bb6d58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114</Words>
  <Application>Microsoft Office PowerPoint</Application>
  <PresentationFormat>Personalizado</PresentationFormat>
  <Paragraphs>33</Paragraphs>
  <Slides>3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9" baseType="lpstr">
      <vt:lpstr>Arial Bold</vt:lpstr>
      <vt:lpstr>Aptos</vt:lpstr>
      <vt:lpstr>Arial</vt:lpstr>
      <vt:lpstr>Ubuntu</vt:lpstr>
      <vt:lpstr>Calibri</vt:lpstr>
      <vt:lpstr>Office Theme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Green Modern Finance Business Report Presentation</dc:title>
  <dc:creator>Estela</dc:creator>
  <cp:lastModifiedBy>ESTELA MORA BARBA</cp:lastModifiedBy>
  <cp:revision>3</cp:revision>
  <dcterms:created xsi:type="dcterms:W3CDTF">2006-08-16T00:00:00Z</dcterms:created>
  <dcterms:modified xsi:type="dcterms:W3CDTF">2026-02-08T19:02:30Z</dcterms:modified>
  <dc:identifier>DAGjl_6cPhI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0x0101003E6D297D7D72CF48BC00C85FA7DA7FAD</vt:lpwstr>
  </property>
</Properties>
</file>